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18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route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418320" y="-8229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SupplyGuard AI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548640" y="31272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Supply Chain Disruption Assistant &amp; Fleet Optimizer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3977640"/>
            <a:ext cx="1280160" cy="0"/>
          </a:xfrm>
          <a:prstGeom prst="line">
            <a:avLst/>
          </a:prstGeom>
          <a:noFill/>
          <a:ln w="31750">
            <a:solidFill>
              <a:srgbClr val="F0A9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disruption signals to actionable recovery decisions.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 CODERS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Supply-chain disruptions rarely stay isolated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disruption can quickly create multiple operational problems: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91156"/>
            <a:ext cx="566928" cy="56692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7" name="Image 0" descr="/home/claude/work/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5283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21992"/>
            <a:ext cx="4023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become delayed or high-risk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80760" y="20574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2391156"/>
            <a:ext cx="566928" cy="56692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1" name="Image 1" descr="/home/claude/work/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5283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221992"/>
            <a:ext cx="4023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assets remain idle while capacity is needed elsewhere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54787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3881628"/>
            <a:ext cx="566928" cy="56692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5" name="Image 2" descr="/home/claude/work/icons/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01878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712464"/>
            <a:ext cx="4023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Temperature-sensitive shipments can experience unnoticed excursions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080760" y="354787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36792" y="3881628"/>
            <a:ext cx="566928" cy="56692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9" name="Image 3" descr="/home/claude/work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01878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3712464"/>
            <a:ext cx="40233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must manually connect disruption, shipment and fleet information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322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0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68680" y="56052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have the data — but need faster visibility into impact, priority and recovery options.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716975" y="5550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official L2 challenge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Control Tower for Disruption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43318" cy="333756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1115" y="1984248"/>
            <a:ext cx="658368" cy="65836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6" name="Image 0" descr="/home/claude/wor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563" y="213969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62072"/>
            <a:ext cx="1768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502152"/>
            <a:ext cx="1677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active disruptions and their potential shipment impact.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11414" y="1691640"/>
            <a:ext cx="2043318" cy="333756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3889" y="1984248"/>
            <a:ext cx="658368" cy="65836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1" name="Image 1" descr="/home/claude/work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337" y="213969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8574" y="2862072"/>
            <a:ext cx="1768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Risk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94294" y="3502152"/>
            <a:ext cx="1677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shipments using a transparent risk score.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74188" y="1691640"/>
            <a:ext cx="2043318" cy="333756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6664" y="1984248"/>
            <a:ext cx="658368" cy="65836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6" name="Image 2" descr="/home/claude/work/icons/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213969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1348" y="2862072"/>
            <a:ext cx="1768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Intelligence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257068" y="3502152"/>
            <a:ext cx="1677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idle or underutilized assets suitable for redeployment.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36963" y="1691640"/>
            <a:ext cx="2043318" cy="333756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29438" y="1984248"/>
            <a:ext cx="658368" cy="65836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21" name="Image 3" descr="/home/claude/work/icons/snowfl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886" y="213969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4123" y="2862072"/>
            <a:ext cx="1768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Cold-Chain Monitoring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19843" y="3502152"/>
            <a:ext cx="1677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temperature/humidity data and flag potential excursions.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99737" y="1691640"/>
            <a:ext cx="2043318" cy="3337560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92212" y="1984248"/>
            <a:ext cx="658368" cy="658368"/>
          </a:xfrm>
          <a:prstGeom prst="ellipse">
            <a:avLst/>
          </a:prstGeom>
          <a:solidFill>
            <a:srgbClr val="F0A93E"/>
          </a:solidFill>
          <a:ln/>
        </p:spPr>
      </p:sp>
      <p:pic>
        <p:nvPicPr>
          <p:cNvPr id="26" name="Image 4" descr="/home/claude/work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7660" y="2139696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36897" y="2862072"/>
            <a:ext cx="1768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Copilot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782617" y="3502152"/>
            <a:ext cx="1677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operational data into an actionable recovery plan.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1592428" y="5641848"/>
            <a:ext cx="1874520" cy="502920"/>
          </a:xfrm>
          <a:prstGeom prst="roundRect">
            <a:avLst>
              <a:gd name="adj" fmla="val 50909"/>
            </a:avLst>
          </a:prstGeom>
          <a:solidFill>
            <a:srgbClr val="13224A"/>
          </a:solidFill>
          <a:ln/>
        </p:spPr>
      </p:sp>
      <p:sp>
        <p:nvSpPr>
          <p:cNvPr id="31" name="Text 24"/>
          <p:cNvSpPr/>
          <p:nvPr/>
        </p:nvSpPr>
        <p:spPr>
          <a:xfrm>
            <a:off x="1592428" y="5641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466948" y="5641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3969868" y="5641848"/>
            <a:ext cx="1874520" cy="502920"/>
          </a:xfrm>
          <a:prstGeom prst="roundRect">
            <a:avLst>
              <a:gd name="adj" fmla="val 50909"/>
            </a:avLst>
          </a:prstGeom>
          <a:solidFill>
            <a:srgbClr val="13224A"/>
          </a:solidFill>
          <a:ln/>
        </p:spPr>
      </p:sp>
      <p:sp>
        <p:nvSpPr>
          <p:cNvPr id="34" name="Text 27"/>
          <p:cNvSpPr/>
          <p:nvPr/>
        </p:nvSpPr>
        <p:spPr>
          <a:xfrm>
            <a:off x="3969868" y="5641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844388" y="5641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6347308" y="5641848"/>
            <a:ext cx="1874520" cy="502920"/>
          </a:xfrm>
          <a:prstGeom prst="roundRect">
            <a:avLst>
              <a:gd name="adj" fmla="val 50909"/>
            </a:avLst>
          </a:prstGeom>
          <a:solidFill>
            <a:srgbClr val="13224A"/>
          </a:solidFill>
          <a:ln/>
        </p:spPr>
      </p:sp>
      <p:sp>
        <p:nvSpPr>
          <p:cNvPr id="37" name="Text 30"/>
          <p:cNvSpPr/>
          <p:nvPr/>
        </p:nvSpPr>
        <p:spPr>
          <a:xfrm>
            <a:off x="6347308" y="5641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8221828" y="5641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8724748" y="5641848"/>
            <a:ext cx="1874520" cy="502920"/>
          </a:xfrm>
          <a:prstGeom prst="roundRect">
            <a:avLst>
              <a:gd name="adj" fmla="val 50909"/>
            </a:avLst>
          </a:prstGeom>
          <a:solidFill>
            <a:srgbClr val="F0A93E"/>
          </a:solidFill>
          <a:ln/>
        </p:spPr>
      </p:sp>
      <p:sp>
        <p:nvSpPr>
          <p:cNvPr id="40" name="Text 33"/>
          <p:cNvSpPr/>
          <p:nvPr/>
        </p:nvSpPr>
        <p:spPr>
          <a:xfrm>
            <a:off x="8724748" y="5641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SUPPLYGUARD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disruption signal to recovery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405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18311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2697" y="187452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18729" y="1874520"/>
            <a:ext cx="201405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10169" y="1874520"/>
            <a:ext cx="18311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Shipments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32787" y="187452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88819" y="1874520"/>
            <a:ext cx="201405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80259" y="1874520"/>
            <a:ext cx="18311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02876" y="187452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58908" y="1874520"/>
            <a:ext cx="201405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50348" y="1874520"/>
            <a:ext cx="18311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Response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72966" y="187452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28998" y="1874520"/>
            <a:ext cx="201405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20438" y="1874520"/>
            <a:ext cx="18311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/ Carrier Options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25815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429000"/>
            <a:ext cx="2398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Redeployment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30220" y="342900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6252" y="3429000"/>
            <a:ext cx="25815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7692" y="3429000"/>
            <a:ext cx="2398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Check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67832" y="342900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23864" y="3429000"/>
            <a:ext cx="25815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15304" y="3429000"/>
            <a:ext cx="2398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05443" y="342900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61475" y="3429000"/>
            <a:ext cx="2581580" cy="960120"/>
          </a:xfrm>
          <a:prstGeom prst="roundRect">
            <a:avLst>
              <a:gd name="adj" fmla="val 8571"/>
            </a:avLst>
          </a:prstGeom>
          <a:solidFill>
            <a:srgbClr val="F0A93E"/>
          </a:solidFill>
          <a:ln w="12700">
            <a:solidFill>
              <a:srgbClr val="F0A93E"/>
            </a:solidFill>
            <a:prstDash val="solid"/>
          </a:ln>
          <a:effectLst>
            <a:outerShdw blurRad="762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52915" y="3429000"/>
            <a:ext cx="2398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Recovery Plan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 flipH="1">
            <a:off x="11597335" y="2834640"/>
            <a:ext cx="45720" cy="594360"/>
          </a:xfrm>
          <a:prstGeom prst="bentConnector3">
            <a:avLst/>
          </a:prstGeom>
          <a:noFill/>
          <a:ln w="25400">
            <a:solidFill>
              <a:srgbClr val="3B5B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4255" y="2862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3224A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become a decision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narrows a raw disruption signal down to one clear, actionable recovery plan — with the operator in control at each step.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DECISION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is not just about finding another route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helps compare recovery alternatives across: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6" name="Image 0" descr="/home/claude/work/icons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1305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93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2286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operational cost?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98064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0" name="Image 1" descr="/home/claude/work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16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30723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additional time could be introduced?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584448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4" name="Image 2" descr="/home/claude/wor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703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38587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option affect shipment risk?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370832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8" name="Image 3" descr="/home/claude/work/icons/le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4897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3525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34440" y="46451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relative environmental trade-off?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452360" y="2011680"/>
            <a:ext cx="4190695" cy="3154680"/>
          </a:xfrm>
          <a:prstGeom prst="roundRect">
            <a:avLst>
              <a:gd name="adj" fmla="val 2319"/>
            </a:avLst>
          </a:prstGeom>
          <a:solidFill>
            <a:srgbClr val="13224A"/>
          </a:solidFill>
          <a:ln/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0" y="2331720"/>
            <a:ext cx="548640" cy="548640"/>
          </a:xfrm>
          <a:prstGeom prst="ellipse">
            <a:avLst/>
          </a:prstGeom>
          <a:solidFill>
            <a:srgbClr val="F0A93E"/>
          </a:solidFill>
          <a:ln/>
        </p:spPr>
      </p:sp>
      <p:pic>
        <p:nvPicPr>
          <p:cNvPr id="23" name="Image 4" descr="/home/claude/work/icons/u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245973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0" y="3017520"/>
            <a:ext cx="3550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making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772400" y="3840480"/>
            <a:ext cx="3550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options and trade-offs — the operator remains in control.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OPTIONS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53949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31520" y="53949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920240" y="53949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297680" y="53949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480560" y="53949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669280" y="53949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046720" y="53949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0" y="53949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9418320" y="53949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trade-off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operational blind spots. One view.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84248"/>
            <a:ext cx="566928" cy="56692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6" name="Image 0" descr="/home/claude/work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14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Utilisation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96112" y="2935224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834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assets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" y="3355848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2552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capacity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96112" y="3776472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675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Underutilized vehicles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6112" y="4197096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0965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Refrigerated vehicles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6112" y="4617720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5171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capacity information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53492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assets that could support recovery.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8076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0" y="1984248"/>
            <a:ext cx="566928" cy="566928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21" name="Image 1" descr="/home/claude/work/icons/snowfl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2140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32320" y="19842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Chain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428232" y="2935224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24" name="Text 20"/>
          <p:cNvSpPr/>
          <p:nvPr/>
        </p:nvSpPr>
        <p:spPr>
          <a:xfrm>
            <a:off x="6629400" y="2834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28232" y="3355848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32552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28232" y="3776472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28" name="Text 24"/>
          <p:cNvSpPr/>
          <p:nvPr/>
        </p:nvSpPr>
        <p:spPr>
          <a:xfrm>
            <a:off x="6629400" y="3675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sensor timeline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28232" y="4197096"/>
            <a:ext cx="82296" cy="82296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30" name="Text 26"/>
          <p:cNvSpPr/>
          <p:nvPr/>
        </p:nvSpPr>
        <p:spPr>
          <a:xfrm>
            <a:off x="6629400" y="40965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/ critical excursions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400800" y="53492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visibility helps operators investigate temperature-sensitive shipments before delivery.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monitoring, not regulatory certification.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system what to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4343400"/>
          </a:xfrm>
          <a:prstGeom prst="roundRect">
            <a:avLst>
              <a:gd name="adj" fmla="val 1684"/>
            </a:avLst>
          </a:prstGeom>
          <a:solidFill>
            <a:srgbClr val="13224A"/>
          </a:solidFill>
          <a:ln/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0" y="2057400"/>
            <a:ext cx="3611880" cy="640080"/>
          </a:xfrm>
          <a:prstGeom prst="roundRect">
            <a:avLst>
              <a:gd name="adj" fmla="val 17143"/>
            </a:avLst>
          </a:prstGeom>
          <a:solidFill>
            <a:srgbClr val="3B5B8C"/>
          </a:solidFill>
          <a:ln/>
        </p:spPr>
      </p:sp>
      <p:sp>
        <p:nvSpPr>
          <p:cNvPr id="6" name="Text 4"/>
          <p:cNvSpPr/>
          <p:nvPr/>
        </p:nvSpPr>
        <p:spPr>
          <a:xfrm>
            <a:off x="306324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should I do about SHP-104?”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5669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RESPONDS WITH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" y="3520440"/>
            <a:ext cx="274320" cy="274320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0" name="Image 0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575304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3483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shipment risk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03320" y="3520440"/>
            <a:ext cx="274320" cy="274320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3" name="Image 1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3575304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3483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143000" y="4023360"/>
            <a:ext cx="274320" cy="274320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6" name="Image 2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407822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867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impact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703320" y="4023360"/>
            <a:ext cx="274320" cy="274320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9" name="Image 3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4078224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69080" y="39867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recovery actions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1143000" y="4526280"/>
            <a:ext cx="274320" cy="274320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22" name="Image 4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4581144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489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fleet options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703320" y="4526280"/>
            <a:ext cx="274320" cy="274320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25" name="Image 5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4581144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069080" y="4489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considerations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178040" y="1737360"/>
            <a:ext cx="4465015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7452360" y="2029968"/>
            <a:ext cx="548640" cy="548640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29" name="Image 6" descr="/home/claude/work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2157984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52360" y="2743200"/>
            <a:ext cx="3916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language, not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screens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452360" y="3520440"/>
            <a:ext cx="3916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searching across multiple screens, operators can ask questions in natural language.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7452360" y="5303520"/>
            <a:ext cx="3916375" cy="502920"/>
          </a:xfrm>
          <a:prstGeom prst="roundRect">
            <a:avLst>
              <a:gd name="adj" fmla="val 50909"/>
            </a:avLst>
          </a:prstGeom>
          <a:solidFill>
            <a:srgbClr val="F0A93E"/>
          </a:solidFill>
          <a:ln/>
        </p:spPr>
      </p:sp>
      <p:sp>
        <p:nvSpPr>
          <p:cNvPr id="33" name="Text 24"/>
          <p:cNvSpPr/>
          <p:nvPr/>
        </p:nvSpPr>
        <p:spPr>
          <a:xfrm>
            <a:off x="7452360" y="5303520"/>
            <a:ext cx="3916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good demo moment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practical, local-first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13224A"/>
          </a:solidFill>
          <a:ln/>
          <a:effectLst>
            <a:outerShdw blurRad="635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— Dashboard / UI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13224A"/>
          </a:solidFill>
          <a:ln/>
          <a:effectLst>
            <a:outerShdw blurRad="635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4688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APIs + Logic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981200" cy="685800"/>
          </a:xfrm>
          <a:prstGeom prst="roundRect">
            <a:avLst>
              <a:gd name="adj" fmla="val 10667"/>
            </a:avLst>
          </a:prstGeom>
          <a:solidFill>
            <a:srgbClr val="3B5B8C"/>
          </a:solidFill>
          <a:ln/>
          <a:effectLst>
            <a:outerShdw blurRad="635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46120"/>
            <a:ext cx="198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12720" y="3246120"/>
            <a:ext cx="1981200" cy="685800"/>
          </a:xfrm>
          <a:prstGeom prst="roundRect">
            <a:avLst>
              <a:gd name="adj" fmla="val 10667"/>
            </a:avLst>
          </a:prstGeom>
          <a:solidFill>
            <a:srgbClr val="3B5B8C"/>
          </a:solidFill>
          <a:ln/>
          <a:effectLst>
            <a:outerShdw blurRad="635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12720" y="3246120"/>
            <a:ext cx="198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Simulation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76800" y="3246120"/>
            <a:ext cx="1981200" cy="685800"/>
          </a:xfrm>
          <a:prstGeom prst="roundRect">
            <a:avLst>
              <a:gd name="adj" fmla="val 10667"/>
            </a:avLst>
          </a:prstGeom>
          <a:solidFill>
            <a:srgbClr val="3B5B8C"/>
          </a:solidFill>
          <a:ln/>
          <a:effectLst>
            <a:outerShdw blurRad="635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6800" y="3246120"/>
            <a:ext cx="198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Sensors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8C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6309360" cy="530352"/>
          </a:xfrm>
          <a:prstGeom prst="roundRect">
            <a:avLst>
              <a:gd name="adj" fmla="val 13793"/>
            </a:avLst>
          </a:prstGeom>
          <a:solidFill>
            <a:srgbClr val="F0A93E"/>
          </a:solidFill>
          <a:ln/>
          <a:effectLst>
            <a:outerShdw blurRad="63500" dist="25400" dir="5400000" algn="bl" rotWithShape="0">
              <a:srgbClr val="1B2F5E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20624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— + Fallback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23760" y="1691640"/>
            <a:ext cx="441929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24928" y="1988820"/>
            <a:ext cx="457200" cy="457200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21" name="Image 0" descr="/home/claude/work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2089404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28432" y="180136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28432" y="2093976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Vite  •  Tailwind CSS  •  Recharts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23760" y="2926080"/>
            <a:ext cx="441929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424928" y="3223260"/>
            <a:ext cx="457200" cy="457200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26" name="Image 1" descr="/home/claude/work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332384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028432" y="303580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028432" y="3328416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Pydantic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223760" y="4160520"/>
            <a:ext cx="441929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424928" y="4457700"/>
            <a:ext cx="457200" cy="457200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31" name="Image 2" descr="/home/claude/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4558284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028432" y="427024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028432" y="4562856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•  Structured prototype datasets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7223760" y="54864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technologies actually present in the final repository are listed.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INTEGRATION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IBM Bob supported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74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052828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6" name="Image 0" descr="/home/claude/wor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1717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2475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Analysis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17320" y="2167128"/>
            <a:ext cx="2475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existing repository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2122" y="1691640"/>
            <a:ext cx="35274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1578" y="2052828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1" name="Image 1" descr="/home/claude/work/icons/draf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450" y="21717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0802" y="1856232"/>
            <a:ext cx="2475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Planning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200802" y="2167128"/>
            <a:ext cx="2475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implementation planning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5605" y="1691640"/>
            <a:ext cx="35274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5061" y="2052828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16" name="Image 2" descr="/home/claude/work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933" y="21717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4285" y="1856232"/>
            <a:ext cx="2475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Assistance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984285" y="2167128"/>
            <a:ext cx="2475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development assistance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35274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515868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21" name="Image 3" descr="/home/claude/work/icons/b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6347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319272"/>
            <a:ext cx="2475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Iteration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417320" y="3630168"/>
            <a:ext cx="2475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iteration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2122" y="3154680"/>
            <a:ext cx="35274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1578" y="3515868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26" name="Image 4" descr="/home/claude/work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450" y="36347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0802" y="3319272"/>
            <a:ext cx="2475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200802" y="3630168"/>
            <a:ext cx="2475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/ validation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15605" y="3154680"/>
            <a:ext cx="35274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5061" y="3515868"/>
            <a:ext cx="512064" cy="512064"/>
          </a:xfrm>
          <a:prstGeom prst="ellipse">
            <a:avLst/>
          </a:prstGeom>
          <a:solidFill>
            <a:srgbClr val="3B5B8C"/>
          </a:solidFill>
          <a:ln/>
        </p:spPr>
      </p:sp>
      <p:pic>
        <p:nvPicPr>
          <p:cNvPr id="31" name="Image 5" descr="/home/claude/work/icons/file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933" y="36347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4285" y="3319272"/>
            <a:ext cx="2475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984285" y="3630168"/>
            <a:ext cx="2475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documentation and project structure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7091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3224A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4855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68680" y="5111496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was integrated into the development workflow — not simply mentioned in the presentation.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disruption to recovery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operational situation.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79394" y="173736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2274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2274" y="242316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disruption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2274" y="290779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disruption scenario.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3736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30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93028" y="242316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affected shipments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93028" y="290779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shipments are impacted.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40901" y="173736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23781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23781" y="242316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critical shipment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23781" y="290779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risk and contributing factors.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recovery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91947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rerouting / fleet options.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79394" y="374904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2274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562274" y="443484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cold chain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2274" y="491947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temperature-related alerts.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0148" y="374904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93028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93028" y="443484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Copilot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93028" y="491947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should I do about SHP-104?”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40901" y="3749040"/>
            <a:ext cx="2602154" cy="1783080"/>
          </a:xfrm>
          <a:prstGeom prst="roundRect">
            <a:avLst>
              <a:gd name="adj" fmla="val 4103"/>
            </a:avLst>
          </a:prstGeom>
          <a:solidFill>
            <a:srgbClr val="F0A93E"/>
          </a:solidFill>
          <a:ln/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23781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223781" y="4434840"/>
            <a:ext cx="2236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recovery guidance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23781" y="4919472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A4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→ Prioritisation → Recovery.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SupplyGuard enables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709160" cy="411480"/>
          </a:xfrm>
          <a:prstGeom prst="roundRect">
            <a:avLst>
              <a:gd name="adj" fmla="val 48889"/>
            </a:avLst>
          </a:prstGeom>
          <a:solidFill>
            <a:srgbClr val="E4F5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PROTOTYPE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606040"/>
            <a:ext cx="292608" cy="29260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8" name="Image 0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665476"/>
            <a:ext cx="173736" cy="1737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257860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operational visibility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3154680"/>
            <a:ext cx="292608" cy="29260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1" name="Image 1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214116"/>
            <a:ext cx="173736" cy="173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31272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simulation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1248" y="3703320"/>
            <a:ext cx="292608" cy="29260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4" name="Image 2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762756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367588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risk prioritisation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41248" y="4251960"/>
            <a:ext cx="292608" cy="29260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7" name="Image 3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311396"/>
            <a:ext cx="173736" cy="1737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422452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utilisation analysis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41248" y="4800600"/>
            <a:ext cx="292608" cy="29260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20" name="Image 4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860036"/>
            <a:ext cx="173736" cy="1737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1872" y="47731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monitoring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841248" y="5349240"/>
            <a:ext cx="292608" cy="29260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23" name="Image 5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5408676"/>
            <a:ext cx="173736" cy="1737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61872" y="532180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operational recommendations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08076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1B2F5E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355080" y="1965960"/>
            <a:ext cx="4709160" cy="411480"/>
          </a:xfrm>
          <a:prstGeom prst="roundRect">
            <a:avLst>
              <a:gd name="adj" fmla="val 48889"/>
            </a:avLst>
          </a:prstGeom>
          <a:solidFill>
            <a:srgbClr val="FCEFD9"/>
          </a:solidFill>
          <a:ln/>
        </p:spPr>
      </p:sp>
      <p:sp>
        <p:nvSpPr>
          <p:cNvPr id="27" name="Text 19"/>
          <p:cNvSpPr/>
          <p:nvPr/>
        </p:nvSpPr>
        <p:spPr>
          <a:xfrm>
            <a:off x="6355080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9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355080" y="25603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793992" y="257860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disruption feeds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355080" y="3108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6793992" y="31272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IoT integrations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355080" y="36576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793992" y="367588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optimisation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355080" y="4206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793992" y="422452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TMS integration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6355080" y="4754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6793992" y="47731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disruption detection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6355080" y="53035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793992" y="532180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deployment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48640" y="62819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capabilities are intentionally separated from what is implemented today.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SUPPLYGUARD AI  ·  COSMO CODERS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route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1097280" y="32918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716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SupplyGuard AI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supply-chain uncertainty into actionable decisions.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F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Intelligence   ×   Shipment Risk   ×   Fleet Optimisation   ×   Cold-Chain Monitoring   ×   AI Decision Support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 CODERS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55321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5989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822</Words>
  <Application>Microsoft Office PowerPoint</Application>
  <PresentationFormat>Widescreen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Pratham Gandhi</cp:lastModifiedBy>
  <cp:revision>1</cp:revision>
  <dcterms:created xsi:type="dcterms:W3CDTF">2026-09-15T10:26:14Z</dcterms:created>
  <dcterms:modified xsi:type="dcterms:W3CDTF">2026-09-15T10:39:04Z</dcterms:modified>
</cp:coreProperties>
</file>